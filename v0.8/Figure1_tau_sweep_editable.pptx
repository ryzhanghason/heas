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715000" type="screen16x10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8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Ad-hoc-Entropy (semantic)</c:v>
                </c:pt>
              </c:strCache>
            </c:strRef>
          </c:tx>
          <c:spPr>
            <a:ln w="25400" cap="flat">
              <a:solidFill>
                <a:srgbClr val="4D4D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D4D4D"/>
              </a:solidFill>
              <a:ln w="9525" cap="flat">
                <a:solidFill>
                  <a:srgbClr val="4D4D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0.05</c:v>
                </c:pt>
                <c:pt idx="1">
                  <c:v>0.10</c:v>
                </c:pt>
                <c:pt idx="2">
                  <c:v>0.15</c:v>
                </c:pt>
                <c:pt idx="3">
                  <c:v>0.20</c:v>
                </c:pt>
                <c:pt idx="4">
                  <c:v>0.25</c:v>
                </c:pt>
                <c:pt idx="5">
                  <c:v>0.30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43.7</c:v>
                </c:pt>
                <c:pt idx="1">
                  <c:v>39.9</c:v>
                </c:pt>
                <c:pt idx="2">
                  <c:v>40.6</c:v>
                </c:pt>
                <c:pt idx="3">
                  <c:v>42</c:v>
                </c:pt>
                <c:pt idx="4">
                  <c:v>42.5</c:v>
                </c:pt>
                <c:pt idx="5">
                  <c:v>39.1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FDE-084D-A337-7205EDF8DFB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Ad-hoc-Step (syntactic)</c:v>
                </c:pt>
              </c:strCache>
            </c:strRef>
          </c:tx>
          <c:spPr>
            <a:ln w="25400" cap="flat">
              <a:solidFill>
                <a:srgbClr val="D66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604D"/>
              </a:solidFill>
              <a:ln w="9525" cap="flat">
                <a:solidFill>
                  <a:srgbClr val="D660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0.05</c:v>
                </c:pt>
                <c:pt idx="1">
                  <c:v>0.10</c:v>
                </c:pt>
                <c:pt idx="2">
                  <c:v>0.15</c:v>
                </c:pt>
                <c:pt idx="3">
                  <c:v>0.20</c:v>
                </c:pt>
                <c:pt idx="4">
                  <c:v>0.25</c:v>
                </c:pt>
                <c:pt idx="5">
                  <c:v>0.30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9.3000000000000007</c:v>
                </c:pt>
                <c:pt idx="1">
                  <c:v>15.4</c:v>
                </c:pt>
                <c:pt idx="2">
                  <c:v>22.5</c:v>
                </c:pt>
                <c:pt idx="3">
                  <c:v>25.9</c:v>
                </c:pt>
                <c:pt idx="4">
                  <c:v>30.4</c:v>
                </c:pt>
                <c:pt idx="5">
                  <c:v>31.3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FDE-084D-A337-7205EDF8DFB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Ad-hoc-Mean (near-uniform)</c:v>
                </c:pt>
              </c:strCache>
            </c:strRef>
          </c:tx>
          <c:spPr>
            <a:ln w="25400" cap="flat">
              <a:solidFill>
                <a:srgbClr val="4DAF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DAF4A"/>
              </a:solidFill>
              <a:ln w="9525" cap="flat">
                <a:solidFill>
                  <a:srgbClr val="4DAF4A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0.05</c:v>
                </c:pt>
                <c:pt idx="1">
                  <c:v>0.10</c:v>
                </c:pt>
                <c:pt idx="2">
                  <c:v>0.15</c:v>
                </c:pt>
                <c:pt idx="3">
                  <c:v>0.20</c:v>
                </c:pt>
                <c:pt idx="4">
                  <c:v>0.25</c:v>
                </c:pt>
                <c:pt idx="5">
                  <c:v>0.30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0.8</c:v>
                </c:pt>
                <c:pt idx="1">
                  <c:v>3.3</c:v>
                </c:pt>
                <c:pt idx="2">
                  <c:v>4.5999999999999996</c:v>
                </c:pt>
                <c:pt idx="3">
                  <c:v>7</c:v>
                </c:pt>
                <c:pt idx="4">
                  <c:v>6.4</c:v>
                </c:pt>
                <c:pt idx="5">
                  <c:v>9.9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FDE-084D-A337-7205EDF8DFB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HEAS (contract)</c:v>
                </c:pt>
              </c:strCache>
            </c:strRef>
          </c:tx>
          <c:spPr>
            <a:ln w="25400" cap="flat">
              <a:solidFill>
                <a:srgbClr val="2166A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166AC"/>
              </a:solidFill>
              <a:ln w="9525" cap="flat">
                <a:solidFill>
                  <a:srgbClr val="2166AC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0.05</c:v>
                </c:pt>
                <c:pt idx="1">
                  <c:v>0.10</c:v>
                </c:pt>
                <c:pt idx="2">
                  <c:v>0.15</c:v>
                </c:pt>
                <c:pt idx="3">
                  <c:v>0.20</c:v>
                </c:pt>
                <c:pt idx="4">
                  <c:v>0.25</c:v>
                </c:pt>
                <c:pt idx="5">
                  <c:v>0.30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2.2000000000000002</c:v>
                </c:pt>
                <c:pt idx="1">
                  <c:v>3.9</c:v>
                </c:pt>
                <c:pt idx="2">
                  <c:v>5</c:v>
                </c:pt>
                <c:pt idx="3">
                  <c:v>6.7</c:v>
                </c:pt>
                <c:pt idx="4">
                  <c:v>6.4</c:v>
                </c:pt>
                <c:pt idx="5">
                  <c:v>9.8000000000000007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FDE-084D-A337-7205EDF8DF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HK"/>
                  <a:t>Stochasticity </a:t>
                </a:r>
                <a:r>
                  <a:rPr lang="el-GR"/>
                  <a:t>τ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  <c:min val="0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HK"/>
                  <a:t>Rank Reversal Rate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Entropy – semantic</c:v>
                </c:pt>
              </c:strCache>
            </c:strRef>
          </c:tx>
          <c:spPr>
            <a:solidFill>
              <a:srgbClr val="4D4D4D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0.05</c:v>
                </c:pt>
                <c:pt idx="1">
                  <c:v>0.10</c:v>
                </c:pt>
                <c:pt idx="2">
                  <c:v>0.15</c:v>
                </c:pt>
                <c:pt idx="3">
                  <c:v>0.20</c:v>
                </c:pt>
                <c:pt idx="4">
                  <c:v>0.25</c:v>
                </c:pt>
                <c:pt idx="5">
                  <c:v>0.30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1.1439999999999999</c:v>
                </c:pt>
                <c:pt idx="1">
                  <c:v>0.96699999999999997</c:v>
                </c:pt>
                <c:pt idx="2">
                  <c:v>0.93200000000000005</c:v>
                </c:pt>
                <c:pt idx="3">
                  <c:v>0.88500000000000001</c:v>
                </c:pt>
                <c:pt idx="4">
                  <c:v>0.90900000000000003</c:v>
                </c:pt>
                <c:pt idx="5">
                  <c:v>0.71499999999999997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70-8F42-AA35-C9F43A2B571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Step – syntactic</c:v>
                </c:pt>
              </c:strCache>
            </c:strRef>
          </c:tx>
          <c:spPr>
            <a:solidFill>
              <a:srgbClr val="D6604D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0.05</c:v>
                </c:pt>
                <c:pt idx="1">
                  <c:v>0.10</c:v>
                </c:pt>
                <c:pt idx="2">
                  <c:v>0.15</c:v>
                </c:pt>
                <c:pt idx="3">
                  <c:v>0.20</c:v>
                </c:pt>
                <c:pt idx="4">
                  <c:v>0.25</c:v>
                </c:pt>
                <c:pt idx="5">
                  <c:v>0.30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0.318</c:v>
                </c:pt>
                <c:pt idx="1">
                  <c:v>0.40699999999999997</c:v>
                </c:pt>
                <c:pt idx="2">
                  <c:v>0.53800000000000003</c:v>
                </c:pt>
                <c:pt idx="3">
                  <c:v>0.54400000000000004</c:v>
                </c:pt>
                <c:pt idx="4">
                  <c:v>0.65600000000000003</c:v>
                </c:pt>
                <c:pt idx="5">
                  <c:v>0.55200000000000005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670-8F42-AA35-C9F43A2B571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Mean – near-uniform</c:v>
                </c:pt>
              </c:strCache>
            </c:strRef>
          </c:tx>
          <c:spPr>
            <a:solidFill>
              <a:srgbClr val="4DAF4A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0.05</c:v>
                </c:pt>
                <c:pt idx="1">
                  <c:v>0.10</c:v>
                </c:pt>
                <c:pt idx="2">
                  <c:v>0.15</c:v>
                </c:pt>
                <c:pt idx="3">
                  <c:v>0.20</c:v>
                </c:pt>
                <c:pt idx="4">
                  <c:v>0.25</c:v>
                </c:pt>
                <c:pt idx="5">
                  <c:v>0.30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0.11600000000000001</c:v>
                </c:pt>
                <c:pt idx="1">
                  <c:v>3.5999999999999997E-2</c:v>
                </c:pt>
                <c:pt idx="2">
                  <c:v>1.7000000000000001E-2</c:v>
                </c:pt>
                <c:pt idx="3">
                  <c:v>0.01</c:v>
                </c:pt>
                <c:pt idx="4">
                  <c:v>2E-3</c:v>
                </c:pt>
                <c:pt idx="5">
                  <c:v>6.0000000000000001E-3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670-8F42-AA35-C9F43A2B57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HK"/>
                  <a:t>Stochasticity </a:t>
                </a:r>
                <a:r>
                  <a:rPr lang="el-GR"/>
                  <a:t>τ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3"/>
          <c:min val="0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HK"/>
                  <a:t>Cohen's h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Ad-hoc-Entropy (semantic)</c:v>
                </c:pt>
              </c:strCache>
            </c:strRef>
          </c:tx>
          <c:spPr>
            <a:ln w="25400" cap="flat">
              <a:solidFill>
                <a:srgbClr val="4D4D4D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4D4D4D"/>
              </a:solidFill>
              <a:ln w="9525" cap="flat">
                <a:solidFill>
                  <a:srgbClr val="4D4D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0.05</c:v>
                </c:pt>
                <c:pt idx="1">
                  <c:v>0.10</c:v>
                </c:pt>
                <c:pt idx="2">
                  <c:v>0.15</c:v>
                </c:pt>
                <c:pt idx="3">
                  <c:v>0.20</c:v>
                </c:pt>
                <c:pt idx="4">
                  <c:v>0.25</c:v>
                </c:pt>
                <c:pt idx="5">
                  <c:v>0.30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43.7</c:v>
                </c:pt>
                <c:pt idx="1">
                  <c:v>39.9</c:v>
                </c:pt>
                <c:pt idx="2">
                  <c:v>40.6</c:v>
                </c:pt>
                <c:pt idx="3">
                  <c:v>42</c:v>
                </c:pt>
                <c:pt idx="4">
                  <c:v>42.5</c:v>
                </c:pt>
                <c:pt idx="5">
                  <c:v>39.1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A9C-ED44-A0DF-75D668CCFF7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Ad-hoc-Step (syntactic)</c:v>
                </c:pt>
              </c:strCache>
            </c:strRef>
          </c:tx>
          <c:spPr>
            <a:ln w="25400" cap="flat">
              <a:solidFill>
                <a:srgbClr val="D6604D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D6604D"/>
              </a:solidFill>
              <a:ln w="9525" cap="flat">
                <a:solidFill>
                  <a:srgbClr val="D660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0.05</c:v>
                </c:pt>
                <c:pt idx="1">
                  <c:v>0.10</c:v>
                </c:pt>
                <c:pt idx="2">
                  <c:v>0.15</c:v>
                </c:pt>
                <c:pt idx="3">
                  <c:v>0.20</c:v>
                </c:pt>
                <c:pt idx="4">
                  <c:v>0.25</c:v>
                </c:pt>
                <c:pt idx="5">
                  <c:v>0.30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9.3000000000000007</c:v>
                </c:pt>
                <c:pt idx="1">
                  <c:v>15.4</c:v>
                </c:pt>
                <c:pt idx="2">
                  <c:v>22.5</c:v>
                </c:pt>
                <c:pt idx="3">
                  <c:v>25.9</c:v>
                </c:pt>
                <c:pt idx="4">
                  <c:v>30.4</c:v>
                </c:pt>
                <c:pt idx="5">
                  <c:v>31.3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A9C-ED44-A0DF-75D668CCFF7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Ad-hoc-Mean (near-uniform)</c:v>
                </c:pt>
              </c:strCache>
            </c:strRef>
          </c:tx>
          <c:spPr>
            <a:ln w="25400" cap="flat">
              <a:solidFill>
                <a:srgbClr val="4DAF4A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4DAF4A"/>
              </a:solidFill>
              <a:ln w="9525" cap="flat">
                <a:solidFill>
                  <a:srgbClr val="4DAF4A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0.05</c:v>
                </c:pt>
                <c:pt idx="1">
                  <c:v>0.10</c:v>
                </c:pt>
                <c:pt idx="2">
                  <c:v>0.15</c:v>
                </c:pt>
                <c:pt idx="3">
                  <c:v>0.20</c:v>
                </c:pt>
                <c:pt idx="4">
                  <c:v>0.25</c:v>
                </c:pt>
                <c:pt idx="5">
                  <c:v>0.30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0.8</c:v>
                </c:pt>
                <c:pt idx="1">
                  <c:v>3.3</c:v>
                </c:pt>
                <c:pt idx="2">
                  <c:v>4.5999999999999996</c:v>
                </c:pt>
                <c:pt idx="3">
                  <c:v>7</c:v>
                </c:pt>
                <c:pt idx="4">
                  <c:v>6.4</c:v>
                </c:pt>
                <c:pt idx="5">
                  <c:v>9.9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A9C-ED44-A0DF-75D668CCFF7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HEAS (contract)</c:v>
                </c:pt>
              </c:strCache>
            </c:strRef>
          </c:tx>
          <c:spPr>
            <a:ln w="25400" cap="flat">
              <a:solidFill>
                <a:srgbClr val="2166AC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2166AC"/>
              </a:solidFill>
              <a:ln w="9525" cap="flat">
                <a:solidFill>
                  <a:srgbClr val="2166AC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0.05</c:v>
                </c:pt>
                <c:pt idx="1">
                  <c:v>0.10</c:v>
                </c:pt>
                <c:pt idx="2">
                  <c:v>0.15</c:v>
                </c:pt>
                <c:pt idx="3">
                  <c:v>0.20</c:v>
                </c:pt>
                <c:pt idx="4">
                  <c:v>0.25</c:v>
                </c:pt>
                <c:pt idx="5">
                  <c:v>0.30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2.2000000000000002</c:v>
                </c:pt>
                <c:pt idx="1">
                  <c:v>3.9</c:v>
                </c:pt>
                <c:pt idx="2">
                  <c:v>5</c:v>
                </c:pt>
                <c:pt idx="3">
                  <c:v>6.7</c:v>
                </c:pt>
                <c:pt idx="4">
                  <c:v>6.4</c:v>
                </c:pt>
                <c:pt idx="5">
                  <c:v>9.8000000000000007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A9C-ED44-A0DF-75D668CCFF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HK" sz="1100" b="0" i="0" u="none" strike="noStrike">
                    <a:solidFill>
                      <a:srgbClr val="000000"/>
                    </a:solidFill>
                    <a:latin typeface="Arial"/>
                  </a:rPr>
                  <a:t>Stochasticity </a:t>
                </a:r>
                <a:r>
                  <a:rPr lang="el-GR" sz="1100" b="0" i="0" u="none" strike="noStrike">
                    <a:solidFill>
                      <a:srgbClr val="000000"/>
                    </a:solidFill>
                    <a:latin typeface="Arial"/>
                  </a:rPr>
                  <a:t>τ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  <c:min val="0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HK" sz="1100" b="0" i="0" u="none" strike="noStrike">
                    <a:solidFill>
                      <a:srgbClr val="000000"/>
                    </a:solidFill>
                    <a:latin typeface="Arial"/>
                  </a:rPr>
                  <a:t>Rank Reversal Rate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rgbClr val="FAFAFA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latin typeface="Times New Roman"/>
              <a:cs typeface="Times New Roman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 w="6350" cap="flat">
      <a:solidFill>
        <a:srgbClr val="CCCCCC"/>
      </a:solidFill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Entropy – semantic (dark grey)</c:v>
                </c:pt>
              </c:strCache>
            </c:strRef>
          </c:tx>
          <c:spPr>
            <a:solidFill>
              <a:srgbClr val="4D4D4D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0.05</c:v>
                </c:pt>
                <c:pt idx="1">
                  <c:v>0.10</c:v>
                </c:pt>
                <c:pt idx="2">
                  <c:v>0.15</c:v>
                </c:pt>
                <c:pt idx="3">
                  <c:v>0.20</c:v>
                </c:pt>
                <c:pt idx="4">
                  <c:v>0.25</c:v>
                </c:pt>
                <c:pt idx="5">
                  <c:v>0.30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1.1439999999999999</c:v>
                </c:pt>
                <c:pt idx="1">
                  <c:v>0.96699999999999997</c:v>
                </c:pt>
                <c:pt idx="2">
                  <c:v>0.93200000000000005</c:v>
                </c:pt>
                <c:pt idx="3">
                  <c:v>0.88500000000000001</c:v>
                </c:pt>
                <c:pt idx="4">
                  <c:v>0.90900000000000003</c:v>
                </c:pt>
                <c:pt idx="5">
                  <c:v>0.71499999999999997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9A-864C-8BB5-F8530E056FA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Step – syntactic (orange)</c:v>
                </c:pt>
              </c:strCache>
            </c:strRef>
          </c:tx>
          <c:spPr>
            <a:solidFill>
              <a:srgbClr val="D6604D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0.05</c:v>
                </c:pt>
                <c:pt idx="1">
                  <c:v>0.10</c:v>
                </c:pt>
                <c:pt idx="2">
                  <c:v>0.15</c:v>
                </c:pt>
                <c:pt idx="3">
                  <c:v>0.20</c:v>
                </c:pt>
                <c:pt idx="4">
                  <c:v>0.25</c:v>
                </c:pt>
                <c:pt idx="5">
                  <c:v>0.30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0.318</c:v>
                </c:pt>
                <c:pt idx="1">
                  <c:v>0.40699999999999997</c:v>
                </c:pt>
                <c:pt idx="2">
                  <c:v>0.53800000000000003</c:v>
                </c:pt>
                <c:pt idx="3">
                  <c:v>0.54400000000000004</c:v>
                </c:pt>
                <c:pt idx="4">
                  <c:v>0.65600000000000003</c:v>
                </c:pt>
                <c:pt idx="5">
                  <c:v>0.55200000000000005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9A-864C-8BB5-F8530E056FA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Mean – near-uniform (green)</c:v>
                </c:pt>
              </c:strCache>
            </c:strRef>
          </c:tx>
          <c:spPr>
            <a:solidFill>
              <a:srgbClr val="4DAF4A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0.05</c:v>
                </c:pt>
                <c:pt idx="1">
                  <c:v>0.10</c:v>
                </c:pt>
                <c:pt idx="2">
                  <c:v>0.15</c:v>
                </c:pt>
                <c:pt idx="3">
                  <c:v>0.20</c:v>
                </c:pt>
                <c:pt idx="4">
                  <c:v>0.25</c:v>
                </c:pt>
                <c:pt idx="5">
                  <c:v>0.30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0.11600000000000001</c:v>
                </c:pt>
                <c:pt idx="1">
                  <c:v>3.5999999999999997E-2</c:v>
                </c:pt>
                <c:pt idx="2">
                  <c:v>1.7000000000000001E-2</c:v>
                </c:pt>
                <c:pt idx="3">
                  <c:v>0.01</c:v>
                </c:pt>
                <c:pt idx="4">
                  <c:v>2E-3</c:v>
                </c:pt>
                <c:pt idx="5">
                  <c:v>6.0000000000000001E-3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99A-864C-8BB5-F8530E056F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HK" sz="1100" b="0" i="0" u="none" strike="noStrike">
                    <a:solidFill>
                      <a:srgbClr val="000000"/>
                    </a:solidFill>
                    <a:latin typeface="Arial"/>
                  </a:rPr>
                  <a:t>Stochasticity </a:t>
                </a:r>
                <a:r>
                  <a:rPr lang="el-GR" sz="1100" b="0" i="0" u="none" strike="noStrike">
                    <a:solidFill>
                      <a:srgbClr val="000000"/>
                    </a:solidFill>
                    <a:latin typeface="Arial"/>
                  </a:rPr>
                  <a:t>τ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3"/>
          <c:min val="0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HK" sz="1100" b="0" i="0" u="none" strike="noStrike">
                    <a:solidFill>
                      <a:srgbClr val="000000"/>
                    </a:solidFill>
                    <a:latin typeface="Arial"/>
                  </a:rPr>
                  <a:t>Cohen's h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solidFill>
          <a:srgbClr val="FAFAFA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latin typeface="Times New Roman"/>
              <a:cs typeface="Times New Roman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 w="6350" cap="flat">
      <a:solidFill>
        <a:srgbClr val="CCCCCC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6287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55645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08155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88202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38197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09331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210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14865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49540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0487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35109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10928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4477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136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4644" y="360680"/>
            <a:ext cx="457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(a)  Rank Reversal Rate (%)</a:t>
            </a:r>
            <a:endParaRPr lang="en-US" sz="1400" b="1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325407232"/>
              </p:ext>
            </p:extLst>
          </p:nvPr>
        </p:nvGraphicFramePr>
        <p:xfrm>
          <a:off x="74644" y="731519"/>
          <a:ext cx="4294155" cy="48575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/>
          <p:nvPr/>
        </p:nvSpPr>
        <p:spPr>
          <a:xfrm>
            <a:off x="4775200" y="360680"/>
            <a:ext cx="457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(b)  Cohen's h  (HEAS vs. ad-hoc)</a:t>
            </a:r>
            <a:endParaRPr lang="en-US" sz="1400" b="1" dirty="0"/>
          </a:p>
        </p:txBody>
      </p:sp>
      <p:graphicFrame>
        <p:nvGraphicFramePr>
          <p:cNvPr id="12" name="Chart 1"/>
          <p:cNvGraphicFramePr/>
          <p:nvPr>
            <p:extLst>
              <p:ext uri="{D42A27DB-BD31-4B8C-83A1-F6EECF244321}">
                <p14:modId xmlns:p14="http://schemas.microsoft.com/office/powerpoint/2010/main" val="2144539133"/>
              </p:ext>
            </p:extLst>
          </p:nvPr>
        </p:nvGraphicFramePr>
        <p:xfrm>
          <a:off x="4775200" y="731520"/>
          <a:ext cx="4200849" cy="48575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03200" y="101600"/>
            <a:ext cx="955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1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Panel (a) — Rank Reversal Rates  [edit this slide for fine-tuning]</a:t>
            </a:r>
            <a:endParaRPr lang="en-US" sz="1111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0" y="558800"/>
          <a:ext cx="9144000" cy="4775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03200" y="101600"/>
            <a:ext cx="955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1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Panel (b) — Cohen's h Effect Sizes  [edit this slide for fine-tuning]</a:t>
            </a:r>
            <a:endParaRPr lang="en-US" sz="1111" dirty="0"/>
          </a:p>
        </p:txBody>
      </p:sp>
      <p:sp>
        <p:nvSpPr>
          <p:cNvPr id="3" name="Text 1"/>
          <p:cNvSpPr/>
          <p:nvPr/>
        </p:nvSpPr>
        <p:spPr>
          <a:xfrm>
            <a:off x="6299200" y="2844800"/>
            <a:ext cx="3149600" cy="254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txBody>
          <a:bodyPr wrap="square" lIns="84667" tIns="84667" rIns="84667" bIns="84667" rtlCol="0" anchor="ctr"/>
          <a:lstStyle/>
          <a:p>
            <a:r>
              <a:rPr lang="en-US" sz="833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reference (all h &gt; 0):</a:t>
            </a:r>
            <a:endParaRPr lang="en-US" sz="833" dirty="0"/>
          </a:p>
          <a:p>
            <a:r>
              <a:rPr lang="en-US" sz="833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τ=0.05:  h_Ent=1.144  h_Step=0.318  h_Mean=0.116</a:t>
            </a:r>
            <a:endParaRPr lang="en-US" sz="833" dirty="0"/>
          </a:p>
          <a:p>
            <a:r>
              <a:rPr lang="en-US" sz="833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τ=0.10:  h_Ent=0.967  h_Step=0.407  h_Mean=0.036</a:t>
            </a:r>
            <a:endParaRPr lang="en-US" sz="833" dirty="0"/>
          </a:p>
          <a:p>
            <a:r>
              <a:rPr lang="en-US" sz="833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τ=0.15:  h_Ent=0.932  h_Step=0.538  h_Mean=0.017</a:t>
            </a:r>
            <a:endParaRPr lang="en-US" sz="833" dirty="0"/>
          </a:p>
          <a:p>
            <a:r>
              <a:rPr lang="en-US" sz="833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τ=0.20:  h_Ent=0.885  h_Step=0.544  h_Mean=0.010</a:t>
            </a:r>
            <a:endParaRPr lang="en-US" sz="833" dirty="0"/>
          </a:p>
          <a:p>
            <a:r>
              <a:rPr lang="en-US" sz="833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τ=0.25:  h_Ent=0.909  h_Step=0.656  h_Mean=0.002</a:t>
            </a:r>
            <a:endParaRPr lang="en-US" sz="833" dirty="0"/>
          </a:p>
          <a:p>
            <a:r>
              <a:rPr lang="en-US" sz="833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τ=0.30:  h_Ent=0.715  h_Step=0.552  h_Mean=0.006</a:t>
            </a:r>
            <a:endParaRPr lang="en-US" sz="833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0" y="558800"/>
          <a:ext cx="6096000" cy="4775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0800" y="1899920"/>
            <a:ext cx="5943600" cy="0"/>
          </a:xfrm>
          <a:prstGeom prst="line">
            <a:avLst/>
          </a:prstGeom>
          <a:noFill/>
          <a:ln w="10160">
            <a:solidFill>
              <a:srgbClr val="AAAAAA"/>
            </a:solidFill>
            <a:prstDash val="sysDot"/>
          </a:ln>
        </p:spPr>
        <p:txBody>
          <a:bodyPr/>
          <a:lstStyle/>
          <a:p>
            <a:endParaRPr lang="en-US" sz="2000"/>
          </a:p>
        </p:txBody>
      </p:sp>
      <p:sp>
        <p:nvSpPr>
          <p:cNvPr id="6" name="Text 3"/>
          <p:cNvSpPr/>
          <p:nvPr/>
        </p:nvSpPr>
        <p:spPr>
          <a:xfrm>
            <a:off x="6014720" y="174752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89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large  h = 0.8</a:t>
            </a:r>
            <a:endParaRPr lang="en-US" sz="889" dirty="0"/>
          </a:p>
        </p:txBody>
      </p:sp>
      <p:sp>
        <p:nvSpPr>
          <p:cNvPr id="7" name="Shape 4"/>
          <p:cNvSpPr/>
          <p:nvPr/>
        </p:nvSpPr>
        <p:spPr>
          <a:xfrm>
            <a:off x="50800" y="2722880"/>
            <a:ext cx="5943600" cy="0"/>
          </a:xfrm>
          <a:prstGeom prst="line">
            <a:avLst/>
          </a:prstGeom>
          <a:noFill/>
          <a:ln w="10160">
            <a:solidFill>
              <a:srgbClr val="AAAAAA"/>
            </a:solidFill>
            <a:prstDash val="sysDot"/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Text 5"/>
          <p:cNvSpPr/>
          <p:nvPr/>
        </p:nvSpPr>
        <p:spPr>
          <a:xfrm>
            <a:off x="6014720" y="257048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89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medium h = 0.5</a:t>
            </a:r>
            <a:endParaRPr lang="en-US" sz="889" dirty="0"/>
          </a:p>
        </p:txBody>
      </p:sp>
      <p:sp>
        <p:nvSpPr>
          <p:cNvPr id="9" name="Shape 6"/>
          <p:cNvSpPr/>
          <p:nvPr/>
        </p:nvSpPr>
        <p:spPr>
          <a:xfrm>
            <a:off x="50800" y="3881120"/>
            <a:ext cx="5943600" cy="0"/>
          </a:xfrm>
          <a:prstGeom prst="line">
            <a:avLst/>
          </a:prstGeom>
          <a:noFill/>
          <a:ln w="10160">
            <a:solidFill>
              <a:srgbClr val="AAAAAA"/>
            </a:solidFill>
            <a:prstDash val="sysDot"/>
          </a:ln>
        </p:spPr>
        <p:txBody>
          <a:bodyPr/>
          <a:lstStyle/>
          <a:p>
            <a:endParaRPr lang="en-US" sz="2000"/>
          </a:p>
        </p:txBody>
      </p:sp>
      <p:sp>
        <p:nvSpPr>
          <p:cNvPr id="10" name="Text 7"/>
          <p:cNvSpPr/>
          <p:nvPr/>
        </p:nvSpPr>
        <p:spPr>
          <a:xfrm>
            <a:off x="6014720" y="372872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89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small  h = 0.2</a:t>
            </a:r>
            <a:endParaRPr lang="en-US" sz="889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355600" y="50800"/>
            <a:ext cx="985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22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X  |  HEAS Contract Architecture  [edit this slide for manual fix]</a:t>
            </a:r>
            <a:endParaRPr lang="en-US" sz="1222" dirty="0"/>
          </a:p>
        </p:txBody>
      </p:sp>
      <p:sp>
        <p:nvSpPr>
          <p:cNvPr id="3" name="Text 1"/>
          <p:cNvSpPr/>
          <p:nvPr/>
        </p:nvSpPr>
        <p:spPr>
          <a:xfrm>
            <a:off x="-406400" y="386080"/>
            <a:ext cx="2794000" cy="243840"/>
          </a:xfrm>
          <a:prstGeom prst="rect">
            <a:avLst/>
          </a:prstGeom>
          <a:noFill/>
          <a:ln/>
        </p:spPr>
        <p:txBody>
          <a:bodyPr wrap="square" lIns="28222" tIns="28222" rIns="28222" bIns="28222" rtlCol="0" anchor="ctr"/>
          <a:lstStyle/>
          <a:p>
            <a:pPr algn="ctr"/>
            <a:r>
              <a:rPr lang="en-US" sz="10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Arena/Streams/Layers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590800" y="386080"/>
            <a:ext cx="3962400" cy="243840"/>
          </a:xfrm>
          <a:prstGeom prst="rect">
            <a:avLst/>
          </a:prstGeom>
          <a:noFill/>
          <a:ln/>
        </p:spPr>
        <p:txBody>
          <a:bodyPr wrap="square" lIns="28222" tIns="28222" rIns="28222" bIns="28222" rtlCol="0" anchor="ctr"/>
          <a:lstStyle/>
          <a:p>
            <a:pPr algn="ctr"/>
            <a:r>
              <a:rPr lang="en-US" sz="10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metrics_episode()  Contract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705600" y="386080"/>
            <a:ext cx="2794000" cy="243840"/>
          </a:xfrm>
          <a:prstGeom prst="rect">
            <a:avLst/>
          </a:prstGeom>
          <a:noFill/>
          <a:ln/>
        </p:spPr>
        <p:txBody>
          <a:bodyPr wrap="square" lIns="28222" tIns="28222" rIns="28222" bIns="28222" rtlCol="0" anchor="ctr"/>
          <a:lstStyle/>
          <a:p>
            <a:pPr algn="ctr"/>
            <a:r>
              <a:rPr lang="en-US" sz="10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Pipeline Stages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90800" y="670560"/>
            <a:ext cx="3962400" cy="2133600"/>
          </a:xfrm>
          <a:prstGeom prst="roundRect">
            <a:avLst>
              <a:gd name="adj" fmla="val 2381"/>
            </a:avLst>
          </a:prstGeom>
          <a:solidFill>
            <a:srgbClr val="FFF0F0"/>
          </a:solidFill>
          <a:ln w="12700">
            <a:solidFill>
              <a:srgbClr val="CC3333"/>
            </a:solidFill>
            <a:prstDash val="dash"/>
          </a:ln>
        </p:spPr>
        <p:txBody>
          <a:bodyPr/>
          <a:lstStyle/>
          <a:p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2641600" y="701040"/>
            <a:ext cx="3860800" cy="223520"/>
          </a:xfrm>
          <a:prstGeom prst="rect">
            <a:avLst/>
          </a:prstGeom>
          <a:noFill/>
          <a:ln/>
        </p:spPr>
        <p:txBody>
          <a:bodyPr wrap="square" lIns="28222" tIns="28222" rIns="28222" bIns="28222" rtlCol="0" anchor="ctr"/>
          <a:lstStyle/>
          <a:p>
            <a:r>
              <a:rPr lang="en-US" sz="889" b="1" dirty="0">
                <a:solidFill>
                  <a:srgbClr val="CC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DIVERGENT PATH  (without contract):</a:t>
            </a:r>
            <a:endParaRPr lang="en-US" sz="889" dirty="0"/>
          </a:p>
        </p:txBody>
      </p:sp>
      <p:sp>
        <p:nvSpPr>
          <p:cNvPr id="8" name="Shape 6"/>
          <p:cNvSpPr/>
          <p:nvPr/>
        </p:nvSpPr>
        <p:spPr>
          <a:xfrm>
            <a:off x="2946400" y="975360"/>
            <a:ext cx="3251200" cy="1676400"/>
          </a:xfrm>
          <a:prstGeom prst="roundRect">
            <a:avLst>
              <a:gd name="adj" fmla="val 3030"/>
            </a:avLst>
          </a:prstGeom>
          <a:solidFill>
            <a:srgbClr val="FFFACD"/>
          </a:solidFill>
          <a:ln w="15240">
            <a:solidFill>
              <a:srgbClr val="C8960C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9" name="Text 7"/>
          <p:cNvSpPr/>
          <p:nvPr/>
        </p:nvSpPr>
        <p:spPr>
          <a:xfrm>
            <a:off x="2997200" y="1036320"/>
            <a:ext cx="314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11" b="1" dirty="0">
                <a:solidFill>
                  <a:srgbClr val="7B58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Interface</a:t>
            </a:r>
            <a:endParaRPr lang="en-US" sz="1111" dirty="0"/>
          </a:p>
        </p:txBody>
      </p:sp>
      <p:sp>
        <p:nvSpPr>
          <p:cNvPr id="10" name="Text 8"/>
          <p:cNvSpPr/>
          <p:nvPr/>
        </p:nvSpPr>
        <p:spPr>
          <a:xfrm>
            <a:off x="3048000" y="1361440"/>
            <a:ext cx="3048000" cy="1198880"/>
          </a:xfrm>
          <a:prstGeom prst="rect">
            <a:avLst/>
          </a:prstGeom>
          <a:noFill/>
          <a:ln/>
        </p:spPr>
        <p:txBody>
          <a:bodyPr wrap="square" lIns="84667" tIns="84667" rIns="84667" bIns="84667" rtlCol="0" anchor="t"/>
          <a:lstStyle/>
          <a:p>
            <a:r>
              <a:rPr lang="en-US" sz="1000" dirty="0">
                <a:solidFill>
                  <a:srgbClr val="333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metrics_episode(</a:t>
            </a:r>
            <a:endParaRPr lang="en-US" sz="1000" dirty="0"/>
          </a:p>
          <a:p>
            <a:r>
              <a:rPr lang="en-US" sz="1000" dirty="0">
                <a:solidFill>
                  <a:srgbClr val="333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obs, actions, rewards</a:t>
            </a:r>
            <a:endParaRPr lang="en-US" sz="1000" dirty="0"/>
          </a:p>
          <a:p>
            <a:r>
              <a:rPr lang="en-US" sz="1000" dirty="0">
                <a:solidFill>
                  <a:srgbClr val="333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→ metrics_dict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46400" y="3149600"/>
            <a:ext cx="3251200" cy="528320"/>
          </a:xfrm>
          <a:prstGeom prst="roundRect">
            <a:avLst>
              <a:gd name="adj" fmla="val 11538"/>
            </a:avLst>
          </a:prstGeom>
          <a:solidFill>
            <a:srgbClr val="C8E6C9"/>
          </a:solidFill>
          <a:ln w="1905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2" name="Text 10"/>
          <p:cNvSpPr/>
          <p:nvPr/>
        </p:nvSpPr>
        <p:spPr>
          <a:xfrm>
            <a:off x="2946400" y="3149600"/>
            <a:ext cx="32512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metrics_episode()</a:t>
            </a:r>
            <a:endParaRPr lang="en-US" sz="1333" dirty="0"/>
          </a:p>
        </p:txBody>
      </p:sp>
      <p:sp>
        <p:nvSpPr>
          <p:cNvPr id="13" name="Text 11"/>
          <p:cNvSpPr/>
          <p:nvPr/>
        </p:nvSpPr>
        <p:spPr>
          <a:xfrm>
            <a:off x="2946400" y="3738880"/>
            <a:ext cx="32512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2E7D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DIVERGENCE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-406400" y="670560"/>
            <a:ext cx="2844800" cy="223520"/>
          </a:xfrm>
          <a:prstGeom prst="rect">
            <a:avLst/>
          </a:prstGeom>
          <a:noFill/>
          <a:ln/>
        </p:spPr>
        <p:txBody>
          <a:bodyPr wrap="square" lIns="28222" tIns="28222" rIns="28222" bIns="28222" rtlCol="0" anchor="ctr"/>
          <a:lstStyle/>
          <a:p>
            <a:r>
              <a:rPr lang="en-US" sz="833" b="1" dirty="0">
                <a:solidFill>
                  <a:srgbClr val="2166A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HEAS UNIFIED PATH  (with contract):</a:t>
            </a:r>
            <a:endParaRPr lang="en-US" sz="833" dirty="0"/>
          </a:p>
        </p:txBody>
      </p:sp>
      <p:sp>
        <p:nvSpPr>
          <p:cNvPr id="15" name="Shape 13"/>
          <p:cNvSpPr/>
          <p:nvPr/>
        </p:nvSpPr>
        <p:spPr>
          <a:xfrm>
            <a:off x="152400" y="1016000"/>
            <a:ext cx="1574800" cy="426720"/>
          </a:xfrm>
          <a:prstGeom prst="rect">
            <a:avLst/>
          </a:prstGeom>
          <a:solidFill>
            <a:srgbClr val="DDEEFF"/>
          </a:solidFill>
          <a:ln w="15240">
            <a:solidFill>
              <a:srgbClr val="2166AC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6" name="Text 14"/>
          <p:cNvSpPr/>
          <p:nvPr/>
        </p:nvSpPr>
        <p:spPr>
          <a:xfrm>
            <a:off x="152400" y="1016000"/>
            <a:ext cx="1574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11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Arena</a:t>
            </a:r>
            <a:endParaRPr lang="en-US" sz="1111" dirty="0"/>
          </a:p>
        </p:txBody>
      </p:sp>
      <p:sp>
        <p:nvSpPr>
          <p:cNvPr id="17" name="Shape 15"/>
          <p:cNvSpPr/>
          <p:nvPr/>
        </p:nvSpPr>
        <p:spPr>
          <a:xfrm>
            <a:off x="-406400" y="1645920"/>
            <a:ext cx="690880" cy="386080"/>
          </a:xfrm>
          <a:prstGeom prst="rect">
            <a:avLst/>
          </a:prstGeom>
          <a:solidFill>
            <a:srgbClr val="DDEEFF"/>
          </a:solidFill>
          <a:ln w="12700">
            <a:solidFill>
              <a:srgbClr val="2166AC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8" name="Text 16"/>
          <p:cNvSpPr/>
          <p:nvPr/>
        </p:nvSpPr>
        <p:spPr>
          <a:xfrm>
            <a:off x="-406400" y="1645920"/>
            <a:ext cx="690880" cy="38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-60960" y="1442720"/>
            <a:ext cx="0" cy="203200"/>
          </a:xfrm>
          <a:prstGeom prst="line">
            <a:avLst/>
          </a:prstGeom>
          <a:noFill/>
          <a:ln w="10160">
            <a:solidFill>
              <a:srgbClr val="2166AC"/>
            </a:solidFill>
            <a:prstDash val="solid"/>
            <a:tailEnd type="arrow"/>
          </a:ln>
        </p:spPr>
        <p:txBody>
          <a:bodyPr/>
          <a:lstStyle/>
          <a:p>
            <a:endParaRPr lang="en-US" sz="2000"/>
          </a:p>
        </p:txBody>
      </p:sp>
      <p:sp>
        <p:nvSpPr>
          <p:cNvPr id="20" name="Shape 18"/>
          <p:cNvSpPr/>
          <p:nvPr/>
        </p:nvSpPr>
        <p:spPr>
          <a:xfrm>
            <a:off x="406400" y="1645920"/>
            <a:ext cx="690880" cy="386080"/>
          </a:xfrm>
          <a:prstGeom prst="rect">
            <a:avLst/>
          </a:prstGeom>
          <a:solidFill>
            <a:srgbClr val="DDEEFF"/>
          </a:solidFill>
          <a:ln w="12700">
            <a:solidFill>
              <a:srgbClr val="2166AC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1" name="Text 19"/>
          <p:cNvSpPr/>
          <p:nvPr/>
        </p:nvSpPr>
        <p:spPr>
          <a:xfrm>
            <a:off x="406400" y="1645920"/>
            <a:ext cx="690880" cy="38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51840" y="1442720"/>
            <a:ext cx="0" cy="203200"/>
          </a:xfrm>
          <a:prstGeom prst="line">
            <a:avLst/>
          </a:prstGeom>
          <a:noFill/>
          <a:ln w="10160">
            <a:solidFill>
              <a:srgbClr val="2166AC"/>
            </a:solidFill>
            <a:prstDash val="solid"/>
            <a:tailEnd type="arrow"/>
          </a:ln>
        </p:spPr>
        <p:txBody>
          <a:bodyPr/>
          <a:lstStyle/>
          <a:p>
            <a:endParaRPr lang="en-US" sz="2000"/>
          </a:p>
        </p:txBody>
      </p:sp>
      <p:sp>
        <p:nvSpPr>
          <p:cNvPr id="23" name="Shape 21"/>
          <p:cNvSpPr/>
          <p:nvPr/>
        </p:nvSpPr>
        <p:spPr>
          <a:xfrm>
            <a:off x="1219200" y="1645920"/>
            <a:ext cx="690880" cy="386080"/>
          </a:xfrm>
          <a:prstGeom prst="rect">
            <a:avLst/>
          </a:prstGeom>
          <a:solidFill>
            <a:srgbClr val="DDEEFF"/>
          </a:solidFill>
          <a:ln w="12700">
            <a:solidFill>
              <a:srgbClr val="2166AC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4" name="Text 22"/>
          <p:cNvSpPr/>
          <p:nvPr/>
        </p:nvSpPr>
        <p:spPr>
          <a:xfrm>
            <a:off x="1219200" y="1645920"/>
            <a:ext cx="690880" cy="38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564640" y="1442720"/>
            <a:ext cx="0" cy="203200"/>
          </a:xfrm>
          <a:prstGeom prst="line">
            <a:avLst/>
          </a:prstGeom>
          <a:noFill/>
          <a:ln w="10160">
            <a:solidFill>
              <a:srgbClr val="2166AC"/>
            </a:solidFill>
            <a:prstDash val="solid"/>
            <a:tailEnd type="arrow"/>
          </a:ln>
        </p:spPr>
        <p:txBody>
          <a:bodyPr/>
          <a:lstStyle/>
          <a:p>
            <a:endParaRPr lang="en-US" sz="2000"/>
          </a:p>
        </p:txBody>
      </p:sp>
      <p:sp>
        <p:nvSpPr>
          <p:cNvPr id="26" name="Shape 24"/>
          <p:cNvSpPr/>
          <p:nvPr/>
        </p:nvSpPr>
        <p:spPr>
          <a:xfrm>
            <a:off x="-406400" y="2255520"/>
            <a:ext cx="812800" cy="386080"/>
          </a:xfrm>
          <a:prstGeom prst="rect">
            <a:avLst/>
          </a:prstGeom>
          <a:solidFill>
            <a:srgbClr val="DDEEFF"/>
          </a:solidFill>
          <a:ln w="12700">
            <a:solidFill>
              <a:srgbClr val="2166AC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7" name="Text 25"/>
          <p:cNvSpPr/>
          <p:nvPr/>
        </p:nvSpPr>
        <p:spPr>
          <a:xfrm>
            <a:off x="-406400" y="2255520"/>
            <a:ext cx="812800" cy="38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16000" y="2255520"/>
            <a:ext cx="812800" cy="386080"/>
          </a:xfrm>
          <a:prstGeom prst="rect">
            <a:avLst/>
          </a:prstGeom>
          <a:solidFill>
            <a:srgbClr val="DDEEFF"/>
          </a:solidFill>
          <a:ln w="12700">
            <a:solidFill>
              <a:srgbClr val="2166AC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9" name="Text 27"/>
          <p:cNvSpPr/>
          <p:nvPr/>
        </p:nvSpPr>
        <p:spPr>
          <a:xfrm>
            <a:off x="1016000" y="2255520"/>
            <a:ext cx="812800" cy="38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-60960" y="2032000"/>
            <a:ext cx="0" cy="223520"/>
          </a:xfrm>
          <a:prstGeom prst="line">
            <a:avLst/>
          </a:prstGeom>
          <a:noFill/>
          <a:ln w="10160">
            <a:solidFill>
              <a:srgbClr val="2166AC"/>
            </a:solidFill>
            <a:prstDash val="solid"/>
            <a:tailEnd type="arrow"/>
          </a:ln>
        </p:spPr>
        <p:txBody>
          <a:bodyPr/>
          <a:lstStyle/>
          <a:p>
            <a:endParaRPr lang="en-US" sz="2000"/>
          </a:p>
        </p:txBody>
      </p:sp>
      <p:sp>
        <p:nvSpPr>
          <p:cNvPr id="31" name="Shape 29"/>
          <p:cNvSpPr/>
          <p:nvPr/>
        </p:nvSpPr>
        <p:spPr>
          <a:xfrm>
            <a:off x="751840" y="2032000"/>
            <a:ext cx="0" cy="223520"/>
          </a:xfrm>
          <a:prstGeom prst="line">
            <a:avLst/>
          </a:prstGeom>
          <a:noFill/>
          <a:ln w="10160">
            <a:solidFill>
              <a:srgbClr val="2166AC"/>
            </a:solidFill>
            <a:prstDash val="solid"/>
            <a:tailEnd type="arrow"/>
          </a:ln>
        </p:spPr>
        <p:txBody>
          <a:bodyPr/>
          <a:lstStyle/>
          <a:p>
            <a:endParaRPr lang="en-US" sz="2000"/>
          </a:p>
        </p:txBody>
      </p:sp>
      <p:sp>
        <p:nvSpPr>
          <p:cNvPr id="32" name="Shape 30"/>
          <p:cNvSpPr/>
          <p:nvPr/>
        </p:nvSpPr>
        <p:spPr>
          <a:xfrm>
            <a:off x="1564640" y="2032000"/>
            <a:ext cx="0" cy="223520"/>
          </a:xfrm>
          <a:prstGeom prst="line">
            <a:avLst/>
          </a:prstGeom>
          <a:noFill/>
          <a:ln w="10160">
            <a:solidFill>
              <a:srgbClr val="2166AC"/>
            </a:solidFill>
            <a:prstDash val="solid"/>
            <a:tailEnd type="arrow"/>
          </a:ln>
        </p:spPr>
        <p:txBody>
          <a:bodyPr/>
          <a:lstStyle/>
          <a:p>
            <a:endParaRPr lang="en-US" sz="2000"/>
          </a:p>
        </p:txBody>
      </p:sp>
      <p:sp>
        <p:nvSpPr>
          <p:cNvPr id="33" name="Shape 31"/>
          <p:cNvSpPr/>
          <p:nvPr/>
        </p:nvSpPr>
        <p:spPr>
          <a:xfrm>
            <a:off x="6705600" y="1016000"/>
            <a:ext cx="2794000" cy="528320"/>
          </a:xfrm>
          <a:prstGeom prst="rect">
            <a:avLst/>
          </a:prstGeom>
          <a:solidFill>
            <a:srgbClr val="F5F5F5"/>
          </a:solidFill>
          <a:ln w="1524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34" name="Text 32"/>
          <p:cNvSpPr/>
          <p:nvPr/>
        </p:nvSpPr>
        <p:spPr>
          <a:xfrm>
            <a:off x="6705600" y="1016000"/>
            <a:ext cx="27940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22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Optimizer</a:t>
            </a:r>
            <a:endParaRPr lang="en-US" sz="1222" dirty="0"/>
          </a:p>
        </p:txBody>
      </p:sp>
      <p:sp>
        <p:nvSpPr>
          <p:cNvPr id="35" name="Shape 33"/>
          <p:cNvSpPr/>
          <p:nvPr/>
        </p:nvSpPr>
        <p:spPr>
          <a:xfrm>
            <a:off x="6705600" y="1849120"/>
            <a:ext cx="2794000" cy="528320"/>
          </a:xfrm>
          <a:prstGeom prst="rect">
            <a:avLst/>
          </a:prstGeom>
          <a:solidFill>
            <a:srgbClr val="F5F5F5"/>
          </a:solidFill>
          <a:ln w="1524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36" name="Text 34"/>
          <p:cNvSpPr/>
          <p:nvPr/>
        </p:nvSpPr>
        <p:spPr>
          <a:xfrm>
            <a:off x="6705600" y="1849120"/>
            <a:ext cx="27940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22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Tournament</a:t>
            </a:r>
            <a:endParaRPr lang="en-US" sz="1222" dirty="0"/>
          </a:p>
        </p:txBody>
      </p:sp>
      <p:sp>
        <p:nvSpPr>
          <p:cNvPr id="37" name="Shape 35"/>
          <p:cNvSpPr/>
          <p:nvPr/>
        </p:nvSpPr>
        <p:spPr>
          <a:xfrm>
            <a:off x="6705600" y="2682240"/>
            <a:ext cx="2794000" cy="528320"/>
          </a:xfrm>
          <a:prstGeom prst="rect">
            <a:avLst/>
          </a:prstGeom>
          <a:solidFill>
            <a:srgbClr val="F5F5F5"/>
          </a:solidFill>
          <a:ln w="1524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38" name="Text 36"/>
          <p:cNvSpPr/>
          <p:nvPr/>
        </p:nvSpPr>
        <p:spPr>
          <a:xfrm>
            <a:off x="6705600" y="2682240"/>
            <a:ext cx="27940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22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Inference</a:t>
            </a:r>
            <a:endParaRPr lang="en-US" sz="1222" dirty="0"/>
          </a:p>
        </p:txBody>
      </p:sp>
      <p:sp>
        <p:nvSpPr>
          <p:cNvPr id="39" name="Shape 37"/>
          <p:cNvSpPr/>
          <p:nvPr/>
        </p:nvSpPr>
        <p:spPr>
          <a:xfrm>
            <a:off x="6197600" y="1280160"/>
            <a:ext cx="508000" cy="0"/>
          </a:xfrm>
          <a:prstGeom prst="line">
            <a:avLst/>
          </a:prstGeom>
          <a:noFill/>
          <a:ln w="15240">
            <a:solidFill>
              <a:srgbClr val="CC3333"/>
            </a:solidFill>
            <a:prstDash val="sysDash"/>
            <a:headEnd type="arrow"/>
          </a:ln>
        </p:spPr>
        <p:txBody>
          <a:bodyPr/>
          <a:lstStyle/>
          <a:p>
            <a:endParaRPr lang="en-US" sz="2000"/>
          </a:p>
        </p:txBody>
      </p:sp>
      <p:sp>
        <p:nvSpPr>
          <p:cNvPr id="40" name="Shape 38"/>
          <p:cNvSpPr/>
          <p:nvPr/>
        </p:nvSpPr>
        <p:spPr>
          <a:xfrm>
            <a:off x="6197600" y="2113280"/>
            <a:ext cx="508000" cy="0"/>
          </a:xfrm>
          <a:prstGeom prst="line">
            <a:avLst/>
          </a:prstGeom>
          <a:noFill/>
          <a:ln w="15240">
            <a:solidFill>
              <a:srgbClr val="CC3333"/>
            </a:solidFill>
            <a:prstDash val="sysDash"/>
            <a:headEnd type="arrow"/>
          </a:ln>
        </p:spPr>
        <p:txBody>
          <a:bodyPr/>
          <a:lstStyle/>
          <a:p>
            <a:endParaRPr lang="en-US" sz="2000"/>
          </a:p>
        </p:txBody>
      </p:sp>
      <p:sp>
        <p:nvSpPr>
          <p:cNvPr id="41" name="Shape 39"/>
          <p:cNvSpPr/>
          <p:nvPr/>
        </p:nvSpPr>
        <p:spPr>
          <a:xfrm>
            <a:off x="6197600" y="2946400"/>
            <a:ext cx="508000" cy="0"/>
          </a:xfrm>
          <a:prstGeom prst="line">
            <a:avLst/>
          </a:prstGeom>
          <a:noFill/>
          <a:ln w="15240">
            <a:solidFill>
              <a:srgbClr val="CC3333"/>
            </a:solidFill>
            <a:prstDash val="sysDash"/>
            <a:headEnd type="arrow"/>
          </a:ln>
        </p:spPr>
        <p:txBody>
          <a:bodyPr/>
          <a:lstStyle/>
          <a:p>
            <a:endParaRPr lang="en-US" sz="2000"/>
          </a:p>
        </p:txBody>
      </p:sp>
      <p:sp>
        <p:nvSpPr>
          <p:cNvPr id="42" name="Shape 40"/>
          <p:cNvSpPr/>
          <p:nvPr/>
        </p:nvSpPr>
        <p:spPr>
          <a:xfrm>
            <a:off x="2438400" y="2397760"/>
            <a:ext cx="508000" cy="0"/>
          </a:xfrm>
          <a:prstGeom prst="line">
            <a:avLst/>
          </a:prstGeom>
          <a:noFill/>
          <a:ln w="19050">
            <a:solidFill>
              <a:srgbClr val="2166AC"/>
            </a:solidFill>
            <a:prstDash val="solid"/>
            <a:tailEnd type="arrow"/>
          </a:ln>
        </p:spPr>
        <p:txBody>
          <a:bodyPr/>
          <a:lstStyle/>
          <a:p>
            <a:endParaRPr lang="en-US" sz="2000"/>
          </a:p>
        </p:txBody>
      </p:sp>
      <p:sp>
        <p:nvSpPr>
          <p:cNvPr id="43" name="Shape 41"/>
          <p:cNvSpPr/>
          <p:nvPr/>
        </p:nvSpPr>
        <p:spPr>
          <a:xfrm>
            <a:off x="2946400" y="2397760"/>
            <a:ext cx="0" cy="751840"/>
          </a:xfrm>
          <a:prstGeom prst="line">
            <a:avLst/>
          </a:prstGeom>
          <a:noFill/>
          <a:ln w="19050">
            <a:solidFill>
              <a:srgbClr val="2166AC"/>
            </a:solidFill>
            <a:prstDash val="solid"/>
            <a:tailEnd type="arrow"/>
          </a:ln>
        </p:spPr>
        <p:txBody>
          <a:bodyPr/>
          <a:lstStyle/>
          <a:p>
            <a:endParaRPr lang="en-US" sz="2000"/>
          </a:p>
        </p:txBody>
      </p:sp>
      <p:sp>
        <p:nvSpPr>
          <p:cNvPr id="44" name="Shape 42"/>
          <p:cNvSpPr/>
          <p:nvPr/>
        </p:nvSpPr>
        <p:spPr>
          <a:xfrm>
            <a:off x="-406400" y="4216400"/>
            <a:ext cx="9956800" cy="1300480"/>
          </a:xfrm>
          <a:prstGeom prst="rect">
            <a:avLst/>
          </a:prstGeom>
          <a:solidFill>
            <a:srgbClr val="F8F8F8"/>
          </a:solidFill>
          <a:ln w="1016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45" name="Text 43"/>
          <p:cNvSpPr/>
          <p:nvPr/>
        </p:nvSpPr>
        <p:spPr>
          <a:xfrm>
            <a:off x="-325120" y="4246880"/>
            <a:ext cx="9804400" cy="243840"/>
          </a:xfrm>
          <a:prstGeom prst="rect">
            <a:avLst/>
          </a:prstGeom>
          <a:noFill/>
          <a:ln/>
        </p:spPr>
        <p:txBody>
          <a:bodyPr wrap="square" lIns="28222" tIns="28222" rIns="28222" bIns="28222" rtlCol="0" anchor="ctr"/>
          <a:lstStyle/>
          <a:p>
            <a:r>
              <a:rPr lang="en-US" sz="944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 — Policy A  (Rank inconsistency)</a:t>
            </a:r>
            <a:endParaRPr lang="en-US" sz="944" dirty="0"/>
          </a:p>
        </p:txBody>
      </p:sp>
      <p:sp>
        <p:nvSpPr>
          <p:cNvPr id="46" name="Text 44"/>
          <p:cNvSpPr/>
          <p:nvPr/>
        </p:nvSpPr>
        <p:spPr>
          <a:xfrm>
            <a:off x="-325120" y="4511040"/>
            <a:ext cx="9804400" cy="274320"/>
          </a:xfrm>
          <a:prstGeom prst="rect">
            <a:avLst/>
          </a:prstGeom>
          <a:noFill/>
          <a:ln/>
        </p:spPr>
        <p:txBody>
          <a:bodyPr wrap="square" lIns="28222" tIns="28222" rIns="28222" bIns="28222" rtlCol="0" anchor="ctr"/>
          <a:lstStyle/>
          <a:p>
            <a:r>
              <a:rPr lang="en-US" sz="944" dirty="0">
                <a:solidFill>
                  <a:srgbClr val="CC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Divergent:    Stage₁ mean_biomass = 50.5   →   Stage₂ q75_biomass = 57.5  ↑  (rank #3 → #7, different metric!)</a:t>
            </a:r>
            <a:endParaRPr lang="en-US" sz="944" dirty="0"/>
          </a:p>
        </p:txBody>
      </p:sp>
      <p:sp>
        <p:nvSpPr>
          <p:cNvPr id="47" name="Text 45"/>
          <p:cNvSpPr/>
          <p:nvPr/>
        </p:nvSpPr>
        <p:spPr>
          <a:xfrm>
            <a:off x="-325120" y="4805680"/>
            <a:ext cx="9804400" cy="274320"/>
          </a:xfrm>
          <a:prstGeom prst="rect">
            <a:avLst/>
          </a:prstGeom>
          <a:noFill/>
          <a:ln/>
        </p:spPr>
        <p:txBody>
          <a:bodyPr wrap="square" lIns="28222" tIns="28222" rIns="28222" bIns="28222" rtlCol="0" anchor="ctr"/>
          <a:lstStyle/>
          <a:p>
            <a:r>
              <a:rPr lang="en-US" sz="944" dirty="0">
                <a:solidFill>
                  <a:srgbClr val="1B5E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HEAS:          All stages mean_biomass = 50.5                                                (rank #3 everywhere, consistent)</a:t>
            </a:r>
            <a:endParaRPr lang="en-US" sz="944" dirty="0"/>
          </a:p>
        </p:txBody>
      </p:sp>
      <p:sp>
        <p:nvSpPr>
          <p:cNvPr id="48" name="Text 46"/>
          <p:cNvSpPr/>
          <p:nvPr/>
        </p:nvSpPr>
        <p:spPr>
          <a:xfrm>
            <a:off x="-325120" y="5100320"/>
            <a:ext cx="9804400" cy="243840"/>
          </a:xfrm>
          <a:prstGeom prst="rect">
            <a:avLst/>
          </a:prstGeom>
          <a:noFill/>
          <a:ln/>
        </p:spPr>
        <p:txBody>
          <a:bodyPr wrap="square" lIns="28222" tIns="28222" rIns="28222" bIns="28222" rtlCol="0" anchor="ctr"/>
          <a:lstStyle/>
          <a:p>
            <a:r>
              <a:rPr lang="en-US" sz="889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Contract: metrics_episode() registered once → all stages read identical values.</a:t>
            </a:r>
            <a:endParaRPr lang="en-US" sz="88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231</TotalTime>
  <Words>347</Words>
  <Application>Microsoft Macintosh PowerPoint</Application>
  <PresentationFormat>On-screen Show (16:10)</PresentationFormat>
  <Paragraphs>51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Consolas</vt:lpstr>
      <vt:lpstr>Times New Roman</vt:lpstr>
      <vt:lpstr>Office 2013 - 2022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ZHANG, Hason</cp:lastModifiedBy>
  <cp:revision>9</cp:revision>
  <dcterms:created xsi:type="dcterms:W3CDTF">2026-03-28T18:38:22Z</dcterms:created>
  <dcterms:modified xsi:type="dcterms:W3CDTF">2026-04-01T11:15:42Z</dcterms:modified>
</cp:coreProperties>
</file>