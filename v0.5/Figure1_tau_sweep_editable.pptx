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715000" type="screen16x1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DE-084D-A337-7205EDF8DF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DE-084D-A337-7205EDF8DF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DE-084D-A337-7205EDF8DF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DE-084D-A337-7205EDF8D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0-8F42-AA35-C9F43A2B57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70-8F42-AA35-C9F43A2B57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70-8F42-AA35-C9F43A2B5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0.2"/>
      </c:valAx>
      <c:spPr>
        <a:solidFill>
          <a:srgbClr val="FAFAFA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C-ED44-A0DF-75D668CCFF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9C-ED44-A0DF-75D668CCFF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9C-ED44-A0DF-75D668CCFF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A9C-ED44-A0DF-75D668CCF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 (dark grey)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A-864C-8BB5-F8530E056F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 (orange)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9A-864C-8BB5-F8530E056F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 (green)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9A-864C-8BB5-F8530E056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28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564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815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82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81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933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1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48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4954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4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351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09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47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3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644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 Rank Reversal Rate (%)</a:t>
            </a:r>
            <a:endParaRPr lang="en-US" sz="1400" b="1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25407232"/>
              </p:ext>
            </p:extLst>
          </p:nvPr>
        </p:nvGraphicFramePr>
        <p:xfrm>
          <a:off x="74644" y="731519"/>
          <a:ext cx="4294155" cy="485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775200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 Cohen's h  (HEAS vs. ad-hoc)</a:t>
            </a:r>
            <a:endParaRPr lang="en-US" sz="1400" b="1" dirty="0"/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3976413344"/>
              </p:ext>
            </p:extLst>
          </p:nvPr>
        </p:nvGraphicFramePr>
        <p:xfrm>
          <a:off x="4775200" y="731520"/>
          <a:ext cx="4200849" cy="4857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(a) — Rank Reversal Rates  [edit this slide for fine-tuning]</a:t>
            </a:r>
            <a:endParaRPr lang="en-US" sz="1111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0" y="558800"/>
          <a:ext cx="9144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(b) — Cohen's h Effect Sizes  [edit this slide for fine-tuning]</a:t>
            </a:r>
            <a:endParaRPr lang="en-US" sz="1111" dirty="0"/>
          </a:p>
        </p:txBody>
      </p:sp>
      <p:sp>
        <p:nvSpPr>
          <p:cNvPr id="3" name="Text 1"/>
          <p:cNvSpPr/>
          <p:nvPr/>
        </p:nvSpPr>
        <p:spPr>
          <a:xfrm>
            <a:off x="6299200" y="2844800"/>
            <a:ext cx="3149600" cy="254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txBody>
          <a:bodyPr wrap="square" lIns="84667" tIns="84667" rIns="84667" bIns="84667" rtlCol="0" anchor="ctr"/>
          <a:lstStyle/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reference (all h &gt; 0):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τ=0.05:  h_Ent=1.144  h_Step=0.318  h_Mean=0.116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τ=0.10:  h_Ent=0.967  h_Step=0.407  h_Mean=0.036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τ=0.15:  h_Ent=0.932  h_Step=0.538  h_Mean=0.017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τ=0.20:  h_Ent=0.885  h_Step=0.544  h_Mean=0.010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τ=0.25:  h_Ent=0.909  h_Step=0.656  h_Mean=0.002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τ=0.30:  h_Ent=0.715  h_Step=0.552  h_Mean=0.006</a:t>
            </a:r>
            <a:endParaRPr lang="en-US" sz="833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0" y="558800"/>
          <a:ext cx="6096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800" y="18999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6014720" y="17475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 h = 0.8</a:t>
            </a:r>
            <a:endParaRPr lang="en-US" sz="889" dirty="0"/>
          </a:p>
        </p:txBody>
      </p:sp>
      <p:sp>
        <p:nvSpPr>
          <p:cNvPr id="7" name="Shape 4"/>
          <p:cNvSpPr/>
          <p:nvPr/>
        </p:nvSpPr>
        <p:spPr>
          <a:xfrm>
            <a:off x="50800" y="272288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6014720" y="257048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h = 0.5</a:t>
            </a:r>
            <a:endParaRPr lang="en-US" sz="889" dirty="0"/>
          </a:p>
        </p:txBody>
      </p:sp>
      <p:sp>
        <p:nvSpPr>
          <p:cNvPr id="9" name="Shape 6"/>
          <p:cNvSpPr/>
          <p:nvPr/>
        </p:nvSpPr>
        <p:spPr>
          <a:xfrm>
            <a:off x="50800" y="38811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6014720" y="37287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 h = 0.2</a:t>
            </a:r>
            <a:endParaRPr lang="en-US" sz="88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55600" y="50800"/>
            <a:ext cx="985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2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X  |  HEAS Contract Architecture  [edit this slide for manual fix]</a:t>
            </a:r>
            <a:endParaRPr lang="en-US" sz="1222" dirty="0"/>
          </a:p>
        </p:txBody>
      </p:sp>
      <p:sp>
        <p:nvSpPr>
          <p:cNvPr id="3" name="Text 1"/>
          <p:cNvSpPr/>
          <p:nvPr/>
        </p:nvSpPr>
        <p:spPr>
          <a:xfrm>
            <a:off x="-4064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Arena/Streams/Layers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90800" y="386080"/>
            <a:ext cx="3962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metrics_episode()  Contract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6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Stages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90800" y="670560"/>
            <a:ext cx="3962400" cy="2133600"/>
          </a:xfrm>
          <a:prstGeom prst="roundRect">
            <a:avLst>
              <a:gd name="adj" fmla="val 2381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dash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2641600" y="701040"/>
            <a:ext cx="3860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b="1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 PATH  (without contract):</a:t>
            </a:r>
            <a:endParaRPr lang="en-US" sz="889" dirty="0"/>
          </a:p>
        </p:txBody>
      </p:sp>
      <p:sp>
        <p:nvSpPr>
          <p:cNvPr id="8" name="Shape 6"/>
          <p:cNvSpPr/>
          <p:nvPr/>
        </p:nvSpPr>
        <p:spPr>
          <a:xfrm>
            <a:off x="2946400" y="975360"/>
            <a:ext cx="3251200" cy="1676400"/>
          </a:xfrm>
          <a:prstGeom prst="roundRect">
            <a:avLst>
              <a:gd name="adj" fmla="val 3030"/>
            </a:avLst>
          </a:prstGeom>
          <a:solidFill>
            <a:srgbClr val="FFFACD"/>
          </a:solidFill>
          <a:ln w="1524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997200" y="103632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7B58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111" dirty="0"/>
          </a:p>
        </p:txBody>
      </p:sp>
      <p:sp>
        <p:nvSpPr>
          <p:cNvPr id="10" name="Text 8"/>
          <p:cNvSpPr/>
          <p:nvPr/>
        </p:nvSpPr>
        <p:spPr>
          <a:xfrm>
            <a:off x="3048000" y="1361440"/>
            <a:ext cx="3048000" cy="119888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t"/>
          <a:lstStyle/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metrics_episode(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 actions, rewards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metrics_dict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6400" y="3149600"/>
            <a:ext cx="3251200" cy="528320"/>
          </a:xfrm>
          <a:prstGeom prst="roundRect">
            <a:avLst>
              <a:gd name="adj" fmla="val 11538"/>
            </a:avLst>
          </a:prstGeom>
          <a:solidFill>
            <a:srgbClr val="C8E6C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2946400" y="3149600"/>
            <a:ext cx="32512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metrics_episode()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2946400" y="3738880"/>
            <a:ext cx="32512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DIVERGENCE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406400" y="670560"/>
            <a:ext cx="2844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33" b="1" dirty="0">
                <a:solidFill>
                  <a:srgbClr val="2166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 UNIFIED PATH  (with contract):</a:t>
            </a:r>
            <a:endParaRPr lang="en-US" sz="833" dirty="0"/>
          </a:p>
        </p:txBody>
      </p:sp>
      <p:sp>
        <p:nvSpPr>
          <p:cNvPr id="15" name="Shape 13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solidFill>
            <a:srgbClr val="DDEEFF"/>
          </a:solidFill>
          <a:ln w="1524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</a:t>
            </a:r>
            <a:endParaRPr lang="en-US" sz="1111" dirty="0"/>
          </a:p>
        </p:txBody>
      </p:sp>
      <p:sp>
        <p:nvSpPr>
          <p:cNvPr id="17" name="Shape 15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-6096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18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646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-6096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518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Shape 30"/>
          <p:cNvSpPr/>
          <p:nvPr/>
        </p:nvSpPr>
        <p:spPr>
          <a:xfrm>
            <a:off x="15646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Tournament</a:t>
            </a:r>
            <a:endParaRPr lang="en-US" sz="1222" dirty="0"/>
          </a:p>
        </p:txBody>
      </p:sp>
      <p:sp>
        <p:nvSpPr>
          <p:cNvPr id="37" name="Shape 35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222" dirty="0"/>
          </a:p>
        </p:txBody>
      </p:sp>
      <p:sp>
        <p:nvSpPr>
          <p:cNvPr id="39" name="Shape 37"/>
          <p:cNvSpPr/>
          <p:nvPr/>
        </p:nvSpPr>
        <p:spPr>
          <a:xfrm>
            <a:off x="6197600" y="128016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Shape 38"/>
          <p:cNvSpPr/>
          <p:nvPr/>
        </p:nvSpPr>
        <p:spPr>
          <a:xfrm>
            <a:off x="6197600" y="211328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Shape 39"/>
          <p:cNvSpPr/>
          <p:nvPr/>
        </p:nvSpPr>
        <p:spPr>
          <a:xfrm>
            <a:off x="6197600" y="294640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2" name="Shape 40"/>
          <p:cNvSpPr/>
          <p:nvPr/>
        </p:nvSpPr>
        <p:spPr>
          <a:xfrm>
            <a:off x="2438400" y="2397760"/>
            <a:ext cx="508000" cy="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3" name="Shape 41"/>
          <p:cNvSpPr/>
          <p:nvPr/>
        </p:nvSpPr>
        <p:spPr>
          <a:xfrm>
            <a:off x="2946400" y="2397760"/>
            <a:ext cx="0" cy="75184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4" name="Shape 42"/>
          <p:cNvSpPr/>
          <p:nvPr/>
        </p:nvSpPr>
        <p:spPr>
          <a:xfrm>
            <a:off x="-406400" y="4216400"/>
            <a:ext cx="9956800" cy="1300480"/>
          </a:xfrm>
          <a:prstGeom prst="rect">
            <a:avLst/>
          </a:prstGeom>
          <a:solidFill>
            <a:srgbClr val="F8F8F8"/>
          </a:solidFill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5" name="Text 43"/>
          <p:cNvSpPr/>
          <p:nvPr/>
        </p:nvSpPr>
        <p:spPr>
          <a:xfrm>
            <a:off x="-325120" y="424688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— Policy A  (Rank inconsistency)</a:t>
            </a:r>
            <a:endParaRPr lang="en-US" sz="944" dirty="0"/>
          </a:p>
        </p:txBody>
      </p:sp>
      <p:sp>
        <p:nvSpPr>
          <p:cNvPr id="46" name="Text 44"/>
          <p:cNvSpPr/>
          <p:nvPr/>
        </p:nvSpPr>
        <p:spPr>
          <a:xfrm>
            <a:off x="-325120" y="451104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Divergent:    Stage₁ mean_biomass = 50.5   →   Stage₂ q75_biomass = 57.5  ↑  (rank #3 → #7, different metric!)</a:t>
            </a:r>
            <a:endParaRPr lang="en-US" sz="944" dirty="0"/>
          </a:p>
        </p:txBody>
      </p:sp>
      <p:sp>
        <p:nvSpPr>
          <p:cNvPr id="47" name="Text 45"/>
          <p:cNvSpPr/>
          <p:nvPr/>
        </p:nvSpPr>
        <p:spPr>
          <a:xfrm>
            <a:off x="-325120" y="480568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HEAS:          All stages mean_biomass = 50.5                                                (rank #3 everywhere, consistent)</a:t>
            </a:r>
            <a:endParaRPr lang="en-US" sz="944" dirty="0"/>
          </a:p>
        </p:txBody>
      </p:sp>
      <p:sp>
        <p:nvSpPr>
          <p:cNvPr id="48" name="Text 46"/>
          <p:cNvSpPr/>
          <p:nvPr/>
        </p:nvSpPr>
        <p:spPr>
          <a:xfrm>
            <a:off x="-325120" y="510032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Contract: metrics_episode() registered once → all stages read identical values.</a:t>
            </a:r>
            <a:endParaRPr lang="en-US" sz="88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228</TotalTime>
  <Words>347</Words>
  <Application>Microsoft Macintosh PowerPoint</Application>
  <PresentationFormat>On-screen Show (16:10)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ZHANG, Hason</cp:lastModifiedBy>
  <cp:revision>8</cp:revision>
  <dcterms:created xsi:type="dcterms:W3CDTF">2026-03-28T18:38:22Z</dcterms:created>
  <dcterms:modified xsi:type="dcterms:W3CDTF">2026-04-01T11:12:21Z</dcterms:modified>
</cp:coreProperties>
</file>